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3152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1417320"/>
          </a:xfrm>
          <a:prstGeom prst="rect">
            <a:avLst/>
          </a:prstGeom>
          <a:solidFill>
            <a:srgbClr val="083763"/>
          </a:solidFill>
          <a:ln>
            <a:solidFill>
              <a:srgbClr val="08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28016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INFORME DE DESARROLLOS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429768"/>
            <a:ext cx="6858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GRUPO ROMA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594360" cy="64008"/>
          </a:xfrm>
          <a:prstGeom prst="rect">
            <a:avLst/>
          </a:prstGeom>
          <a:solidFill>
            <a:srgbClr val="EF1441"/>
          </a:solidFill>
          <a:ln>
            <a:solidFill>
              <a:srgbClr val="EF1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09728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BEE1F8"/>
                </a:solidFill>
                <a:latin typeface="Arial"/>
              </a:defRPr>
            </a:pPr>
            <a:r>
              <a:t>Barrios residenciales abiertos y cerrados.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" y="1554480"/>
            <a:ext cx="2221992" cy="1261872"/>
          </a:xfrm>
          <a:prstGeom prst="roundRect">
            <a:avLst>
              <a:gd name="adj" fmla="val 8000"/>
            </a:avLst>
          </a:prstGeom>
          <a:solidFill>
            <a:srgbClr val="E7F6FD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" y="1673352"/>
            <a:ext cx="420624" cy="420624"/>
          </a:xfrm>
          <a:prstGeom prst="roundRect">
            <a:avLst>
              <a:gd name="adj" fmla="val 8000"/>
            </a:avLst>
          </a:prstGeom>
          <a:solidFill>
            <a:srgbClr val="EF1441"/>
          </a:solidFill>
          <a:ln>
            <a:solidFill>
              <a:srgbClr val="EF1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6733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64207"/>
            <a:ext cx="15361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5386E"/>
                </a:solidFill>
                <a:latin typeface="Arial"/>
              </a:defRPr>
            </a:pPr>
            <a:r>
              <a:t>Familias damnificadas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" y="2112264"/>
            <a:ext cx="1993392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05386E"/>
                </a:solidFill>
                <a:latin typeface="Arial"/>
              </a:defRPr>
            </a:pPr>
            <a:r>
              <a:t>Más de mil familias no pueden acceder a su terreno. La gran mayoría cumplió con el pago total y otras continúan pagando.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2032" y="1554480"/>
            <a:ext cx="2221992" cy="1261872"/>
          </a:xfrm>
          <a:prstGeom prst="roundRect">
            <a:avLst>
              <a:gd name="adj" fmla="val 8000"/>
            </a:avLst>
          </a:prstGeom>
          <a:solidFill>
            <a:srgbClr val="E7F6FD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51760" y="1673352"/>
            <a:ext cx="420624" cy="420624"/>
          </a:xfrm>
          <a:prstGeom prst="roundRect">
            <a:avLst>
              <a:gd name="adj" fmla="val 8000"/>
            </a:avLst>
          </a:prstGeom>
          <a:solidFill>
            <a:srgbClr val="EF1441"/>
          </a:solidFill>
          <a:ln>
            <a:solidFill>
              <a:srgbClr val="EF1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6733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1664207"/>
            <a:ext cx="15361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5386E"/>
                </a:solidFill>
                <a:latin typeface="Arial"/>
              </a:defRPr>
            </a:pPr>
            <a:r>
              <a:t>Dueños de la empresa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3" y="2112264"/>
            <a:ext cx="1993392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05386E"/>
                </a:solidFill>
                <a:latin typeface="Arial"/>
              </a:defRPr>
            </a:pPr>
            <a:r>
              <a:t>Sixto Axel Suarez y Pablo Cofano.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1554480"/>
            <a:ext cx="2221992" cy="1261872"/>
          </a:xfrm>
          <a:prstGeom prst="roundRect">
            <a:avLst>
              <a:gd name="adj" fmla="val 8000"/>
            </a:avLst>
          </a:prstGeom>
          <a:solidFill>
            <a:srgbClr val="E7F6FD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56048" y="1673352"/>
            <a:ext cx="420624" cy="420624"/>
          </a:xfrm>
          <a:prstGeom prst="roundRect">
            <a:avLst>
              <a:gd name="adj" fmla="val 8000"/>
            </a:avLst>
          </a:prstGeom>
          <a:solidFill>
            <a:srgbClr val="EF1441"/>
          </a:solidFill>
          <a:ln>
            <a:solidFill>
              <a:srgbClr val="EF1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16733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1536" y="1664207"/>
            <a:ext cx="15361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5386E"/>
                </a:solidFill>
                <a:latin typeface="Arial"/>
              </a:defRPr>
            </a:pPr>
            <a:r>
              <a:t>Involucrados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2112264"/>
            <a:ext cx="1993392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05386E"/>
                </a:solidFill>
                <a:latin typeface="Arial"/>
              </a:defRPr>
            </a:pPr>
            <a:r>
              <a:t>Inmobiliarias, escribanías y vendedores.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" y="2953512"/>
            <a:ext cx="2221992" cy="1261872"/>
          </a:xfrm>
          <a:prstGeom prst="roundRect">
            <a:avLst>
              <a:gd name="adj" fmla="val 8000"/>
            </a:avLst>
          </a:prstGeom>
          <a:solidFill>
            <a:srgbClr val="E7F6FD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7472" y="3072384"/>
            <a:ext cx="420624" cy="420624"/>
          </a:xfrm>
          <a:prstGeom prst="roundRect">
            <a:avLst>
              <a:gd name="adj" fmla="val 8000"/>
            </a:avLst>
          </a:prstGeom>
          <a:solidFill>
            <a:srgbClr val="EF1441"/>
          </a:solidFill>
          <a:ln>
            <a:solidFill>
              <a:srgbClr val="EF1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0723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063240"/>
            <a:ext cx="15361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5386E"/>
                </a:solidFill>
                <a:latin typeface="Arial"/>
              </a:defRPr>
            </a:pPr>
            <a:r>
              <a:t>Años de inicio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511296"/>
            <a:ext cx="1993392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05386E"/>
                </a:solidFill>
                <a:latin typeface="Arial"/>
              </a:defRPr>
            </a:pPr>
            <a:r>
              <a:t>Todos los proyectos comenzaron entre 2020 y 2022.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42032" y="2953512"/>
            <a:ext cx="2221992" cy="1261872"/>
          </a:xfrm>
          <a:prstGeom prst="roundRect">
            <a:avLst>
              <a:gd name="adj" fmla="val 8000"/>
            </a:avLst>
          </a:prstGeom>
          <a:solidFill>
            <a:srgbClr val="E7F6FD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651760" y="3072384"/>
            <a:ext cx="420624" cy="420624"/>
          </a:xfrm>
          <a:prstGeom prst="roundRect">
            <a:avLst>
              <a:gd name="adj" fmla="val 8000"/>
            </a:avLst>
          </a:prstGeom>
          <a:solidFill>
            <a:srgbClr val="EF1441"/>
          </a:solidFill>
          <a:ln>
            <a:solidFill>
              <a:srgbClr val="EF1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0723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27248" y="3063240"/>
            <a:ext cx="15361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5386E"/>
                </a:solidFill>
                <a:latin typeface="Arial"/>
              </a:defRPr>
            </a:pPr>
            <a:r>
              <a:t>Demora acumulada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60903" y="3511296"/>
            <a:ext cx="1993392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05386E"/>
                </a:solidFill>
                <a:latin typeface="Arial"/>
              </a:defRPr>
            </a:pPr>
            <a:r>
              <a:t>Superior a 4 años, con una espera que continúa sin una solución definitiva.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2953512"/>
            <a:ext cx="2221992" cy="1261872"/>
          </a:xfrm>
          <a:prstGeom prst="roundRect">
            <a:avLst>
              <a:gd name="adj" fmla="val 8000"/>
            </a:avLst>
          </a:prstGeom>
          <a:solidFill>
            <a:srgbClr val="E7F6FD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956048" y="3072384"/>
            <a:ext cx="420624" cy="420624"/>
          </a:xfrm>
          <a:prstGeom prst="roundRect">
            <a:avLst>
              <a:gd name="adj" fmla="val 8000"/>
            </a:avLst>
          </a:prstGeom>
          <a:solidFill>
            <a:srgbClr val="EF1441"/>
          </a:solidFill>
          <a:ln>
            <a:solidFill>
              <a:srgbClr val="EF1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30723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31536" y="3063240"/>
            <a:ext cx="15361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5386E"/>
                </a:solidFill>
                <a:latin typeface="Arial"/>
              </a:defRPr>
            </a:pPr>
            <a:r>
              <a:t>Promesa de entrega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65192" y="3511296"/>
            <a:ext cx="1993392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05386E"/>
                </a:solidFill>
                <a:latin typeface="Arial"/>
              </a:defRPr>
            </a:pPr>
            <a:r>
              <a:t>La entrega general estaba proyectada para 2024, pero la promesa no se cumplió.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7744" y="4343400"/>
            <a:ext cx="6839712" cy="438912"/>
          </a:xfrm>
          <a:prstGeom prst="roundRect">
            <a:avLst>
              <a:gd name="adj" fmla="val 8000"/>
            </a:avLst>
          </a:prstGeom>
          <a:solidFill>
            <a:srgbClr val="083763"/>
          </a:solidFill>
          <a:ln>
            <a:solidFill>
              <a:srgbClr val="08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4379976"/>
            <a:ext cx="649224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Situación por localidad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7744" y="4892040"/>
            <a:ext cx="2221992" cy="2084831"/>
          </a:xfrm>
          <a:prstGeom prst="roundRect">
            <a:avLst>
              <a:gd name="adj" fmla="val 8000"/>
            </a:avLst>
          </a:prstGeom>
          <a:solidFill>
            <a:srgbClr val="E7F6FD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37744" y="4892040"/>
            <a:ext cx="2221992" cy="347472"/>
          </a:xfrm>
          <a:prstGeom prst="roundRect">
            <a:avLst>
              <a:gd name="adj" fmla="val 8000"/>
            </a:avLst>
          </a:prstGeom>
          <a:solidFill>
            <a:srgbClr val="10528B"/>
          </a:solidFill>
          <a:ln>
            <a:solidFill>
              <a:srgbClr val="10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910327"/>
            <a:ext cx="2002536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Pueblo Esther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312664"/>
            <a:ext cx="198424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05386E"/>
                </a:solidFill>
                <a:latin typeface="Arial"/>
              </a:defRPr>
            </a:pPr>
            <a:r>
              <a:t>Comunidad Evolutiva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5504688"/>
            <a:ext cx="1984248" cy="5852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40" b="0">
                <a:solidFill>
                  <a:srgbClr val="05386E"/>
                </a:solidFill>
                <a:latin typeface="Arial"/>
              </a:defRPr>
            </a:pPr>
            <a:r>
              <a:t>Se estaba realizando la obra eléctrica, pero los avances se frenaron por multas y deudas. Faltaría mucho dinero para poder terminar el barrio.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42032" y="4892040"/>
            <a:ext cx="2221992" cy="2084831"/>
          </a:xfrm>
          <a:prstGeom prst="roundRect">
            <a:avLst>
              <a:gd name="adj" fmla="val 8000"/>
            </a:avLst>
          </a:prstGeom>
          <a:solidFill>
            <a:srgbClr val="E7F6FD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542032" y="4892040"/>
            <a:ext cx="2221992" cy="347472"/>
          </a:xfrm>
          <a:prstGeom prst="roundRect">
            <a:avLst>
              <a:gd name="adj" fmla="val 8000"/>
            </a:avLst>
          </a:prstGeom>
          <a:solidFill>
            <a:srgbClr val="10528B"/>
          </a:solidFill>
          <a:ln>
            <a:solidFill>
              <a:srgbClr val="10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51760" y="4910327"/>
            <a:ext cx="2002536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Soldini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60903" y="5312664"/>
            <a:ext cx="198424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05386E"/>
                </a:solidFill>
                <a:latin typeface="Arial"/>
              </a:defRPr>
            </a:pPr>
            <a:r>
              <a:t>Orígenes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60903" y="5504688"/>
            <a:ext cx="1984248" cy="6858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40" b="0">
                <a:solidFill>
                  <a:srgbClr val="05386E"/>
                </a:solidFill>
                <a:latin typeface="Arial"/>
              </a:defRPr>
            </a:pPr>
            <a:r>
              <a:t>Esperan la obra eléctrica hace 2 años. No firman el convenio con la cooperativa. También faltan el gas, una nueva perforación de agua, el hídrico 3, la pavimentación de calles y varios detalles más.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46320" y="4892040"/>
            <a:ext cx="2221992" cy="2084831"/>
          </a:xfrm>
          <a:prstGeom prst="roundRect">
            <a:avLst>
              <a:gd name="adj" fmla="val 8000"/>
            </a:avLst>
          </a:prstGeom>
          <a:solidFill>
            <a:srgbClr val="E7F6FD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846320" y="4892040"/>
            <a:ext cx="2221992" cy="347472"/>
          </a:xfrm>
          <a:prstGeom prst="roundRect">
            <a:avLst>
              <a:gd name="adj" fmla="val 8000"/>
            </a:avLst>
          </a:prstGeom>
          <a:solidFill>
            <a:srgbClr val="10528B"/>
          </a:solidFill>
          <a:ln>
            <a:solidFill>
              <a:srgbClr val="10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56048" y="4910327"/>
            <a:ext cx="2002536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Ibarlucea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65192" y="5312664"/>
            <a:ext cx="198424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05386E"/>
                </a:solidFill>
                <a:latin typeface="Arial"/>
              </a:defRPr>
            </a:pPr>
            <a:r>
              <a:t>Campo Madero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65192" y="5504688"/>
            <a:ext cx="1984248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40" b="0">
                <a:solidFill>
                  <a:srgbClr val="05386E"/>
                </a:solidFill>
                <a:latin typeface="Arial"/>
              </a:defRPr>
            </a:pPr>
            <a:r>
              <a:t>No cuenta con luz. Hay torres de alta tensión que deben ser elevadas para poder ejecutar la obra.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5984747"/>
            <a:ext cx="2002536" cy="10972"/>
          </a:xfrm>
          <a:prstGeom prst="rect">
            <a:avLst/>
          </a:prstGeom>
          <a:solidFill>
            <a:srgbClr val="B4E0F7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65192" y="6016751"/>
            <a:ext cx="198424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05386E"/>
                </a:solidFill>
                <a:latin typeface="Arial"/>
              </a:defRPr>
            </a:pPr>
            <a:r>
              <a:t>Campo Madero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65192" y="6208775"/>
            <a:ext cx="1984248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40" b="0">
                <a:solidFill>
                  <a:srgbClr val="05386E"/>
                </a:solidFill>
                <a:latin typeface="Arial"/>
              </a:defRPr>
            </a:pPr>
            <a:r>
              <a:t>Todavía no se realizó la apertura inicial de calles.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56048" y="6542531"/>
            <a:ext cx="2002536" cy="10972"/>
          </a:xfrm>
          <a:prstGeom prst="rect">
            <a:avLst/>
          </a:prstGeom>
          <a:solidFill>
            <a:srgbClr val="B4E0F7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65192" y="6574536"/>
            <a:ext cx="198424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05386E"/>
                </a:solidFill>
                <a:latin typeface="Arial"/>
              </a:defRPr>
            </a:pPr>
            <a:r>
              <a:t>El Naranjo 1 y 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65192" y="6766559"/>
            <a:ext cx="1984248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40" b="0">
                <a:solidFill>
                  <a:srgbClr val="05386E"/>
                </a:solidFill>
                <a:latin typeface="Arial"/>
              </a:defRPr>
            </a:pPr>
            <a:r>
              <a:t>Ambos se encuentran en una etapa similar, a la espera del certificado hídrico 2.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37744" y="7086600"/>
            <a:ext cx="2221992" cy="1993392"/>
          </a:xfrm>
          <a:prstGeom prst="roundRect">
            <a:avLst>
              <a:gd name="adj" fmla="val 8000"/>
            </a:avLst>
          </a:prstGeom>
          <a:solidFill>
            <a:srgbClr val="E7F6FD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37744" y="7086600"/>
            <a:ext cx="2221992" cy="347472"/>
          </a:xfrm>
          <a:prstGeom prst="roundRect">
            <a:avLst>
              <a:gd name="adj" fmla="val 8000"/>
            </a:avLst>
          </a:prstGeom>
          <a:solidFill>
            <a:srgbClr val="10528B"/>
          </a:solidFill>
          <a:ln>
            <a:solidFill>
              <a:srgbClr val="10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" y="7104888"/>
            <a:ext cx="2002536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General Lagos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6616" y="7507224"/>
            <a:ext cx="198424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05386E"/>
                </a:solidFill>
                <a:latin typeface="Arial"/>
              </a:defRPr>
            </a:pPr>
            <a:r>
              <a:t>Vitta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6616" y="7699248"/>
            <a:ext cx="1984248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40" b="0">
                <a:solidFill>
                  <a:srgbClr val="05386E"/>
                </a:solidFill>
                <a:latin typeface="Arial"/>
              </a:defRPr>
            </a:pPr>
            <a:r>
              <a:t>Ya se aprobó el hídrico 2, pero hay algo trabado en medio ambiente.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7472" y="8033004"/>
            <a:ext cx="2002536" cy="10972"/>
          </a:xfrm>
          <a:prstGeom prst="rect">
            <a:avLst/>
          </a:prstGeom>
          <a:solidFill>
            <a:srgbClr val="B4E0F7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6616" y="8065008"/>
            <a:ext cx="198424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05386E"/>
                </a:solidFill>
                <a:latin typeface="Arial"/>
              </a:defRPr>
            </a:pPr>
            <a:r>
              <a:t>Vitta Río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6616" y="8257032"/>
            <a:ext cx="1984248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40" b="0">
                <a:solidFill>
                  <a:srgbClr val="05386E"/>
                </a:solidFill>
                <a:latin typeface="Arial"/>
              </a:defRPr>
            </a:pPr>
            <a:r>
              <a:t>Suspendido por falta de habilitaciones.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7472" y="8526780"/>
            <a:ext cx="2002536" cy="10972"/>
          </a:xfrm>
          <a:prstGeom prst="rect">
            <a:avLst/>
          </a:prstGeom>
          <a:solidFill>
            <a:srgbClr val="B4E0F7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6616" y="8558784"/>
            <a:ext cx="198424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05386E"/>
                </a:solidFill>
                <a:latin typeface="Arial"/>
              </a:defRPr>
            </a:pPr>
            <a:r>
              <a:t>Vitta Urbano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6616" y="8750808"/>
            <a:ext cx="1984248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40" b="0">
                <a:solidFill>
                  <a:srgbClr val="05386E"/>
                </a:solidFill>
                <a:latin typeface="Arial"/>
              </a:defRPr>
            </a:pPr>
            <a:r>
              <a:t>La administración fue transferida a otra empresa.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542032" y="7086600"/>
            <a:ext cx="2221992" cy="1993392"/>
          </a:xfrm>
          <a:prstGeom prst="roundRect">
            <a:avLst>
              <a:gd name="adj" fmla="val 8000"/>
            </a:avLst>
          </a:prstGeom>
          <a:solidFill>
            <a:srgbClr val="E7F6FD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542032" y="7086600"/>
            <a:ext cx="2221992" cy="347472"/>
          </a:xfrm>
          <a:prstGeom prst="roundRect">
            <a:avLst>
              <a:gd name="adj" fmla="val 8000"/>
            </a:avLst>
          </a:prstGeom>
          <a:solidFill>
            <a:srgbClr val="10528B"/>
          </a:solidFill>
          <a:ln>
            <a:solidFill>
              <a:srgbClr val="10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51760" y="7104888"/>
            <a:ext cx="2002536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Zavalla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60903" y="7507224"/>
            <a:ext cx="198424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05386E"/>
                </a:solidFill>
                <a:latin typeface="Arial"/>
              </a:defRPr>
            </a:pPr>
            <a:r>
              <a:t>Comunidad Evolutiva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60903" y="7699248"/>
            <a:ext cx="1984248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40" b="0">
                <a:solidFill>
                  <a:srgbClr val="05386E"/>
                </a:solidFill>
                <a:latin typeface="Arial"/>
              </a:defRPr>
            </a:pPr>
            <a:r>
              <a:t>Solo se realizaron gestiones básicas y no se pudo avanzar.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846320" y="7086600"/>
            <a:ext cx="2221992" cy="1993392"/>
          </a:xfrm>
          <a:prstGeom prst="roundRect">
            <a:avLst>
              <a:gd name="adj" fmla="val 8000"/>
            </a:avLst>
          </a:prstGeom>
          <a:solidFill>
            <a:srgbClr val="E7F6FD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846320" y="7086600"/>
            <a:ext cx="2221992" cy="347472"/>
          </a:xfrm>
          <a:prstGeom prst="roundRect">
            <a:avLst>
              <a:gd name="adj" fmla="val 8000"/>
            </a:avLst>
          </a:prstGeom>
          <a:solidFill>
            <a:srgbClr val="10528B"/>
          </a:solidFill>
          <a:ln>
            <a:solidFill>
              <a:srgbClr val="10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956048" y="7104888"/>
            <a:ext cx="2002536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Roldán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65192" y="7507224"/>
            <a:ext cx="198424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05386E"/>
                </a:solidFill>
                <a:latin typeface="Arial"/>
              </a:defRPr>
            </a:pPr>
            <a:r>
              <a:t>Clos del Este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65192" y="7699248"/>
            <a:ext cx="1984248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40" b="0">
                <a:solidFill>
                  <a:srgbClr val="05386E"/>
                </a:solidFill>
                <a:latin typeface="Arial"/>
              </a:defRPr>
            </a:pPr>
            <a:r>
              <a:t>Suspendido por ser una zona rural.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37744" y="9189720"/>
            <a:ext cx="6830568" cy="640080"/>
          </a:xfrm>
          <a:prstGeom prst="roundRect">
            <a:avLst>
              <a:gd name="adj" fmla="val 8000"/>
            </a:avLst>
          </a:prstGeom>
          <a:solidFill>
            <a:srgbClr val="E7F6FD"/>
          </a:solidFill>
          <a:ln>
            <a:solidFill>
              <a:srgbClr val="B4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" y="9217152"/>
            <a:ext cx="64008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05386E"/>
                </a:solidFill>
                <a:latin typeface="Arial"/>
              </a:defRPr>
            </a:pPr>
            <a:r>
              <a:t>Otros barrios en Ibarlucea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" y="9464040"/>
            <a:ext cx="301752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05386E"/>
                </a:solidFill>
                <a:latin typeface="Arial"/>
              </a:defRPr>
            </a:pPr>
            <a:r>
              <a:t>Foresta — (sin información disponible)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57600" y="9464040"/>
            <a:ext cx="301752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05386E"/>
                </a:solidFill>
                <a:latin typeface="Arial"/>
              </a:defRPr>
            </a:pPr>
            <a:r>
              <a:t>Vitta Norte — (sin información disponible)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